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Inter"/>
      <p:regular r:id="rId11"/>
      <p:bold r:id="rId12"/>
    </p:embeddedFont>
    <p:embeddedFont>
      <p:font typeface="Outfit"/>
      <p:regular r:id="rId13"/>
      <p:bold r:id="rId14"/>
    </p:embeddedFont>
    <p:embeddedFont>
      <p:font typeface="Outfit Medium"/>
      <p:regular r:id="rId15"/>
      <p:bold r:id="rId16"/>
    </p:embeddedFont>
    <p:embeddedFont>
      <p:font typeface="Outfit SemiBold"/>
      <p:regular r:id="rId17"/>
      <p:bold r:id="rId18"/>
    </p:embeddedFont>
    <p:embeddedFont>
      <p:font typeface="Inter Medium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757">
          <p15:clr>
            <a:srgbClr val="A4A3A4"/>
          </p15:clr>
        </p15:guide>
        <p15:guide id="2" pos="2880">
          <p15:clr>
            <a:srgbClr val="A4A3A4"/>
          </p15:clr>
        </p15:guide>
        <p15:guide id="3" pos="268">
          <p15:clr>
            <a:srgbClr val="9AA0A6"/>
          </p15:clr>
        </p15:guide>
        <p15:guide id="4" pos="5613">
          <p15:clr>
            <a:srgbClr val="9AA0A6"/>
          </p15:clr>
        </p15:guide>
        <p15:guide id="5" orient="horz" pos="720">
          <p15:clr>
            <a:srgbClr val="9AA0A6"/>
          </p15:clr>
        </p15:guide>
        <p15:guide id="6" orient="horz" pos="2992">
          <p15:clr>
            <a:srgbClr val="9AA0A6"/>
          </p15:clr>
        </p15:guide>
        <p15:guide id="7" pos="4186">
          <p15:clr>
            <a:srgbClr val="9AA0A6"/>
          </p15:clr>
        </p15:guide>
        <p15:guide id="8" pos="157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757" orient="horz"/>
        <p:guide pos="2880"/>
        <p:guide pos="268"/>
        <p:guide pos="5613"/>
        <p:guide pos="720" orient="horz"/>
        <p:guide pos="2992" orient="horz"/>
        <p:guide pos="4186"/>
        <p:guide pos="15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Medium-bold.fntdata"/><Relationship Id="rId11" Type="http://schemas.openxmlformats.org/officeDocument/2006/relationships/font" Target="fonts/Inter-regular.fntdata"/><Relationship Id="rId10" Type="http://schemas.openxmlformats.org/officeDocument/2006/relationships/slide" Target="slides/slide4.xml"/><Relationship Id="rId13" Type="http://schemas.openxmlformats.org/officeDocument/2006/relationships/font" Target="fonts/Outfit-regular.fntdata"/><Relationship Id="rId12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OutfitMedium-regular.fntdata"/><Relationship Id="rId14" Type="http://schemas.openxmlformats.org/officeDocument/2006/relationships/font" Target="fonts/Outfit-bold.fntdata"/><Relationship Id="rId17" Type="http://schemas.openxmlformats.org/officeDocument/2006/relationships/font" Target="fonts/OutfitSemiBold-regular.fntdata"/><Relationship Id="rId16" Type="http://schemas.openxmlformats.org/officeDocument/2006/relationships/font" Target="fonts/OutfitMedium-bold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InterMedium-regular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Outfit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199c59c5d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1199c59c5d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1e879f001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1e879f001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181c740165_4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g1181c740165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pico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63125" y="870200"/>
            <a:ext cx="36798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3125" y="3430775"/>
            <a:ext cx="3299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3600"/>
              <a:buNone/>
              <a:defRPr sz="3600">
                <a:solidFill>
                  <a:srgbClr val="9D1D8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791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609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9" name="Google Shape;19;p4"/>
          <p:cNvSpPr txBox="1"/>
          <p:nvPr>
            <p:ph idx="2" type="body"/>
          </p:nvPr>
        </p:nvSpPr>
        <p:spPr>
          <a:xfrm>
            <a:off x="4832400" y="1609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791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6374" y="1056028"/>
            <a:ext cx="2598985" cy="259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5343" y="1112653"/>
            <a:ext cx="2598985" cy="259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6853" y="870170"/>
            <a:ext cx="2970684" cy="297070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/>
          <p:nvPr/>
        </p:nvSpPr>
        <p:spPr>
          <a:xfrm>
            <a:off x="525863" y="3107125"/>
            <a:ext cx="19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FFFF"/>
                </a:solidFill>
                <a:latin typeface="Outfit"/>
                <a:ea typeface="Outfit"/>
                <a:cs typeface="Outfit"/>
                <a:sym typeface="Outfit"/>
              </a:rPr>
              <a:t>FOCUS 1</a:t>
            </a:r>
            <a:endParaRPr b="1" i="0" sz="1400" u="none" cap="none" strike="noStrike">
              <a:solidFill>
                <a:srgbClr val="00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8" name="Google Shape;28;p5"/>
          <p:cNvSpPr txBox="1"/>
          <p:nvPr/>
        </p:nvSpPr>
        <p:spPr>
          <a:xfrm>
            <a:off x="3082175" y="3107125"/>
            <a:ext cx="19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FFFF"/>
                </a:solidFill>
                <a:latin typeface="Outfit"/>
                <a:ea typeface="Outfit"/>
                <a:cs typeface="Outfit"/>
                <a:sym typeface="Outfit"/>
              </a:rPr>
              <a:t>FOCUS 2</a:t>
            </a:r>
            <a:endParaRPr b="1" i="0" sz="1400" u="none" cap="none" strike="noStrike">
              <a:solidFill>
                <a:srgbClr val="00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9" name="Google Shape;29;p5"/>
          <p:cNvSpPr txBox="1"/>
          <p:nvPr/>
        </p:nvSpPr>
        <p:spPr>
          <a:xfrm>
            <a:off x="5554838" y="3107125"/>
            <a:ext cx="19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rgbClr val="00FFFF"/>
                </a:solidFill>
                <a:latin typeface="Outfit"/>
                <a:ea typeface="Outfit"/>
                <a:cs typeface="Outfit"/>
                <a:sym typeface="Outfit"/>
              </a:rPr>
              <a:t>FOCUS 3</a:t>
            </a:r>
            <a:endParaRPr b="1" i="0" sz="1400" u="none" cap="none" strike="noStrike">
              <a:solidFill>
                <a:srgbClr val="00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0" name="Google Shape;30;p5"/>
          <p:cNvSpPr txBox="1"/>
          <p:nvPr/>
        </p:nvSpPr>
        <p:spPr>
          <a:xfrm>
            <a:off x="640175" y="3585700"/>
            <a:ext cx="17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200" u="none" cap="none" strike="noStrike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1" name="Google Shape;31;p5"/>
          <p:cNvSpPr txBox="1"/>
          <p:nvPr/>
        </p:nvSpPr>
        <p:spPr>
          <a:xfrm>
            <a:off x="3196488" y="3585700"/>
            <a:ext cx="17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200" u="none" cap="none" strike="noStrike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2" name="Google Shape;32;p5"/>
          <p:cNvSpPr txBox="1"/>
          <p:nvPr/>
        </p:nvSpPr>
        <p:spPr>
          <a:xfrm>
            <a:off x="5669150" y="3585700"/>
            <a:ext cx="17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200" u="none" cap="none" strike="noStrike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956125"/>
            <a:ext cx="4764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11700" y="1987825"/>
            <a:ext cx="4008300" cy="28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4800"/>
              <a:buNone/>
              <a:defRPr sz="4800">
                <a:solidFill>
                  <a:srgbClr val="00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8"/>
          <p:cNvSpPr txBox="1"/>
          <p:nvPr>
            <p:ph type="title"/>
          </p:nvPr>
        </p:nvSpPr>
        <p:spPr>
          <a:xfrm>
            <a:off x="265500" y="848025"/>
            <a:ext cx="4045200" cy="26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4200"/>
              <a:buNone/>
              <a:defRPr sz="4200">
                <a:solidFill>
                  <a:srgbClr val="9D1D8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8"/>
          <p:cNvSpPr txBox="1"/>
          <p:nvPr>
            <p:ph idx="1" type="subTitle"/>
          </p:nvPr>
        </p:nvSpPr>
        <p:spPr>
          <a:xfrm>
            <a:off x="265500" y="3724850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50157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46" name="Google Shape;46;p8"/>
          <p:cNvSpPr/>
          <p:nvPr/>
        </p:nvSpPr>
        <p:spPr>
          <a:xfrm flipH="1" rot="10800000">
            <a:off x="4251835" y="-82850"/>
            <a:ext cx="1098765" cy="5309210"/>
          </a:xfrm>
          <a:custGeom>
            <a:rect b="b" l="l" r="r" t="t"/>
            <a:pathLst>
              <a:path extrusionOk="0" h="212008" w="43876">
                <a:moveTo>
                  <a:pt x="0" y="212008"/>
                </a:moveTo>
                <a:lnTo>
                  <a:pt x="0" y="0"/>
                </a:lnTo>
                <a:lnTo>
                  <a:pt x="13642" y="0"/>
                </a:lnTo>
                <a:lnTo>
                  <a:pt x="43876" y="211271"/>
                </a:lnTo>
                <a:close/>
              </a:path>
            </a:pathLst>
          </a:custGeom>
          <a:solidFill>
            <a:srgbClr val="101023"/>
          </a:solidFill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29236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della sezione e descrizione 1">
  <p:cSld name="SECTION_TITLE_AND_DESCRIPTION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" type="subTitle"/>
          </p:nvPr>
        </p:nvSpPr>
        <p:spPr>
          <a:xfrm>
            <a:off x="311700" y="16456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8" name="Google Shape;58;p12"/>
          <p:cNvSpPr txBox="1"/>
          <p:nvPr>
            <p:ph idx="2" type="body"/>
          </p:nvPr>
        </p:nvSpPr>
        <p:spPr>
          <a:xfrm>
            <a:off x="311700" y="2207875"/>
            <a:ext cx="3837000" cy="29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60" name="Google Shape;60;p12"/>
          <p:cNvSpPr/>
          <p:nvPr>
            <p:ph idx="3" type="pic"/>
          </p:nvPr>
        </p:nvSpPr>
        <p:spPr>
          <a:xfrm>
            <a:off x="4836000" y="-36875"/>
            <a:ext cx="4308000" cy="51921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2"/>
          <p:cNvSpPr txBox="1"/>
          <p:nvPr>
            <p:ph type="title"/>
          </p:nvPr>
        </p:nvSpPr>
        <p:spPr>
          <a:xfrm>
            <a:off x="311700" y="956125"/>
            <a:ext cx="4524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2"/>
          <p:cNvSpPr/>
          <p:nvPr/>
        </p:nvSpPr>
        <p:spPr>
          <a:xfrm>
            <a:off x="4495800" y="-73750"/>
            <a:ext cx="1096900" cy="5300200"/>
          </a:xfrm>
          <a:custGeom>
            <a:rect b="b" l="l" r="r" t="t"/>
            <a:pathLst>
              <a:path extrusionOk="0" h="212008" w="43876">
                <a:moveTo>
                  <a:pt x="0" y="212008"/>
                </a:moveTo>
                <a:lnTo>
                  <a:pt x="0" y="0"/>
                </a:lnTo>
                <a:lnTo>
                  <a:pt x="13642" y="0"/>
                </a:lnTo>
                <a:lnTo>
                  <a:pt x="43876" y="211271"/>
                </a:lnTo>
                <a:close/>
              </a:path>
            </a:pathLst>
          </a:custGeom>
          <a:solidFill>
            <a:srgbClr val="10102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363125" y="870200"/>
            <a:ext cx="3679800" cy="23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363125" y="3430775"/>
            <a:ext cx="32991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4"/>
          <p:cNvSpPr/>
          <p:nvPr>
            <p:ph idx="2" type="pic"/>
          </p:nvPr>
        </p:nvSpPr>
        <p:spPr>
          <a:xfrm>
            <a:off x="4277025" y="-36875"/>
            <a:ext cx="5982300" cy="5281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4"/>
          <p:cNvSpPr/>
          <p:nvPr/>
        </p:nvSpPr>
        <p:spPr>
          <a:xfrm flipH="1" rot="10800000">
            <a:off x="4175635" y="-82850"/>
            <a:ext cx="1098765" cy="5309210"/>
          </a:xfrm>
          <a:custGeom>
            <a:rect b="b" l="l" r="r" t="t"/>
            <a:pathLst>
              <a:path extrusionOk="0" h="212008" w="43876">
                <a:moveTo>
                  <a:pt x="0" y="212008"/>
                </a:moveTo>
                <a:lnTo>
                  <a:pt x="0" y="0"/>
                </a:lnTo>
                <a:lnTo>
                  <a:pt x="13642" y="0"/>
                </a:lnTo>
                <a:lnTo>
                  <a:pt x="43876" y="21127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3600"/>
              <a:buNone/>
              <a:defRPr sz="3600">
                <a:solidFill>
                  <a:srgbClr val="9D1D8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791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609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9" name="Google Shape;79;p16"/>
          <p:cNvSpPr txBox="1"/>
          <p:nvPr>
            <p:ph idx="2" type="body"/>
          </p:nvPr>
        </p:nvSpPr>
        <p:spPr>
          <a:xfrm>
            <a:off x="4832400" y="16096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0" name="Google Shape;80;p16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791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6374" y="1056028"/>
            <a:ext cx="2598985" cy="259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5343" y="1112653"/>
            <a:ext cx="2598985" cy="25990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86853" y="870170"/>
            <a:ext cx="2970684" cy="297070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/>
        </p:nvSpPr>
        <p:spPr>
          <a:xfrm>
            <a:off x="525863" y="3107125"/>
            <a:ext cx="19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FOCUS 1</a:t>
            </a:r>
            <a:endParaRPr b="1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3082175" y="3107125"/>
            <a:ext cx="19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FOCUS 2</a:t>
            </a:r>
            <a:endParaRPr b="1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5554838" y="3107125"/>
            <a:ext cx="198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it" sz="14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FOCUS 3</a:t>
            </a:r>
            <a:endParaRPr b="1" i="0" sz="14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640175" y="3585700"/>
            <a:ext cx="17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200" u="none" cap="none" strike="noStrike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3196488" y="3585700"/>
            <a:ext cx="17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200" u="none" cap="none" strike="noStrike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5669150" y="3585700"/>
            <a:ext cx="1751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t" sz="12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Lorem ipsum</a:t>
            </a:r>
            <a:endParaRPr b="0" i="0" sz="1200" u="none" cap="none" strike="noStrike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956125"/>
            <a:ext cx="4764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987825"/>
            <a:ext cx="4008300" cy="28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0"/>
          <p:cNvSpPr txBox="1"/>
          <p:nvPr>
            <p:ph type="title"/>
          </p:nvPr>
        </p:nvSpPr>
        <p:spPr>
          <a:xfrm>
            <a:off x="265500" y="848025"/>
            <a:ext cx="4045200" cy="266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4200"/>
              <a:buNone/>
              <a:defRPr sz="4200">
                <a:solidFill>
                  <a:srgbClr val="9D1D8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3" name="Google Shape;103;p20"/>
          <p:cNvSpPr txBox="1"/>
          <p:nvPr>
            <p:ph idx="1" type="subTitle"/>
          </p:nvPr>
        </p:nvSpPr>
        <p:spPr>
          <a:xfrm>
            <a:off x="265500" y="3724850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4" name="Google Shape;104;p20"/>
          <p:cNvSpPr txBox="1"/>
          <p:nvPr>
            <p:ph idx="2" type="body"/>
          </p:nvPr>
        </p:nvSpPr>
        <p:spPr>
          <a:xfrm>
            <a:off x="50157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06" name="Google Shape;106;p20"/>
          <p:cNvSpPr/>
          <p:nvPr/>
        </p:nvSpPr>
        <p:spPr>
          <a:xfrm flipH="1" rot="10800000">
            <a:off x="4251835" y="-82850"/>
            <a:ext cx="1098765" cy="5309210"/>
          </a:xfrm>
          <a:custGeom>
            <a:rect b="b" l="l" r="r" t="t"/>
            <a:pathLst>
              <a:path extrusionOk="0" h="212008" w="43876">
                <a:moveTo>
                  <a:pt x="0" y="212008"/>
                </a:moveTo>
                <a:lnTo>
                  <a:pt x="0" y="0"/>
                </a:lnTo>
                <a:lnTo>
                  <a:pt x="13642" y="0"/>
                </a:lnTo>
                <a:lnTo>
                  <a:pt x="43876" y="21127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olo della sezione e descrizione 1">
  <p:cSld name="SECTION_TITLE_AND_DESCRIPTION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311700" y="16456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9" name="Google Shape;109;p21"/>
          <p:cNvSpPr txBox="1"/>
          <p:nvPr>
            <p:ph idx="2" type="body"/>
          </p:nvPr>
        </p:nvSpPr>
        <p:spPr>
          <a:xfrm>
            <a:off x="311700" y="2207875"/>
            <a:ext cx="3837000" cy="292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11" name="Google Shape;111;p21"/>
          <p:cNvSpPr/>
          <p:nvPr>
            <p:ph idx="3" type="pic"/>
          </p:nvPr>
        </p:nvSpPr>
        <p:spPr>
          <a:xfrm>
            <a:off x="4836000" y="-36875"/>
            <a:ext cx="4308000" cy="51921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21"/>
          <p:cNvSpPr txBox="1"/>
          <p:nvPr>
            <p:ph type="title"/>
          </p:nvPr>
        </p:nvSpPr>
        <p:spPr>
          <a:xfrm>
            <a:off x="311700" y="956125"/>
            <a:ext cx="45243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21"/>
          <p:cNvSpPr/>
          <p:nvPr/>
        </p:nvSpPr>
        <p:spPr>
          <a:xfrm>
            <a:off x="4495800" y="-73750"/>
            <a:ext cx="1096900" cy="5300200"/>
          </a:xfrm>
          <a:custGeom>
            <a:rect b="b" l="l" r="r" t="t"/>
            <a:pathLst>
              <a:path extrusionOk="0" h="212008" w="43876">
                <a:moveTo>
                  <a:pt x="0" y="212008"/>
                </a:moveTo>
                <a:lnTo>
                  <a:pt x="0" y="0"/>
                </a:lnTo>
                <a:lnTo>
                  <a:pt x="13642" y="0"/>
                </a:lnTo>
                <a:lnTo>
                  <a:pt x="43876" y="21127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24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310400" y="242935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sto-chiaro">
  <p:cSld name="CUSTOM_1"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4875" y="186900"/>
            <a:ext cx="1707850" cy="395228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5"/>
          <p:cNvSpPr txBox="1"/>
          <p:nvPr>
            <p:ph type="title"/>
          </p:nvPr>
        </p:nvSpPr>
        <p:spPr>
          <a:xfrm>
            <a:off x="311700" y="956125"/>
            <a:ext cx="4764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None/>
              <a:defRPr>
                <a:solidFill>
                  <a:srgbClr val="9D1D8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311700" y="1987825"/>
            <a:ext cx="4008300" cy="28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r">
              <a:buNone/>
              <a:defRPr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lvl="1" rtl="0" algn="r">
              <a:buNone/>
              <a:defRPr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 algn="r">
              <a:buNone/>
              <a:defRPr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 algn="r">
              <a:buNone/>
              <a:defRPr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 algn="r">
              <a:buNone/>
              <a:defRPr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 algn="r">
              <a:buNone/>
              <a:defRPr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 algn="r">
              <a:buNone/>
              <a:defRPr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 algn="r">
              <a:buNone/>
              <a:defRPr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 algn="r">
              <a:buNone/>
              <a:defRPr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4.jp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1019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2800"/>
              <a:buFont typeface="Outfit"/>
              <a:buNone/>
              <a:defRPr b="1" i="0" sz="2800" u="none" cap="none" strike="noStrike">
                <a:solidFill>
                  <a:srgbClr val="00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7271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1800"/>
              <a:buFont typeface="Outfit Medium"/>
              <a:buChar char="●"/>
              <a:defRPr b="0" i="0" sz="1800" u="none" cap="none" strike="noStrike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2376"/>
              </a:buClr>
              <a:buSzPts val="1400"/>
              <a:buFont typeface="Outfit SemiBold"/>
              <a:buChar char="○"/>
              <a:defRPr b="0" i="0" sz="1400" u="none" cap="none" strike="noStrike">
                <a:solidFill>
                  <a:srgbClr val="CB2376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ts val="1400"/>
              <a:buFont typeface="Outfit Medium"/>
              <a:buChar char="■"/>
              <a:defRPr b="0" i="0" sz="1400" u="none" cap="none" strike="noStrike">
                <a:solidFill>
                  <a:srgbClr val="00FFFF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utfit Medium"/>
              <a:buChar char="●"/>
              <a:defRPr b="0" i="0" sz="14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24875" y="186901"/>
            <a:ext cx="1707858" cy="39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title"/>
          </p:nvPr>
        </p:nvSpPr>
        <p:spPr>
          <a:xfrm>
            <a:off x="311700" y="10196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800"/>
              <a:buFont typeface="Outfit"/>
              <a:buNone/>
              <a:defRPr b="1" i="0" sz="2800" u="none" cap="none" strike="noStrike">
                <a:solidFill>
                  <a:srgbClr val="9D1D8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311700" y="17271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1800"/>
              <a:buFont typeface="Outfit Medium"/>
              <a:buChar char="●"/>
              <a:defRPr b="0" i="0" sz="1800" u="none" cap="none" strike="noStrike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B2376"/>
              </a:buClr>
              <a:buSzPts val="1400"/>
              <a:buFont typeface="Outfit SemiBold"/>
              <a:buChar char="○"/>
              <a:defRPr b="0" i="0" sz="1400" u="none" cap="none" strike="noStrike">
                <a:solidFill>
                  <a:srgbClr val="CB2376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utfit Medium"/>
              <a:buChar char="■"/>
              <a:defRPr b="0" i="0" sz="1400" u="none" cap="none" strike="noStrike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Outfit Medium"/>
              <a:buChar char="●"/>
              <a:defRPr b="0" i="0" sz="1400" u="none" cap="none" strike="noStrike">
                <a:solidFill>
                  <a:schemeClr val="lt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 b="0" i="0" sz="14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2" type="sldNum"/>
          </p:nvPr>
        </p:nvSpPr>
        <p:spPr>
          <a:xfrm>
            <a:off x="31170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‹#›</a:t>
            </a:fld>
            <a:endParaRPr/>
          </a:p>
        </p:txBody>
      </p:sp>
      <p:pic>
        <p:nvPicPr>
          <p:cNvPr id="67" name="Google Shape;67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24875" y="186897"/>
            <a:ext cx="1707817" cy="39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/>
        </p:nvSpPr>
        <p:spPr>
          <a:xfrm>
            <a:off x="-75" y="2150850"/>
            <a:ext cx="91440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Esercizio: formattare</a:t>
            </a:r>
            <a:endParaRPr b="1" sz="32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una pagina con i CSS</a:t>
            </a:r>
            <a:endParaRPr b="1" sz="3200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/>
          <p:nvPr/>
        </p:nvSpPr>
        <p:spPr>
          <a:xfrm>
            <a:off x="-13200" y="69125"/>
            <a:ext cx="9157200" cy="669000"/>
          </a:xfrm>
          <a:prstGeom prst="rect">
            <a:avLst/>
          </a:prstGeom>
          <a:solidFill>
            <a:srgbClr val="10102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875" y="206826"/>
            <a:ext cx="1707858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7"/>
          <p:cNvSpPr txBox="1"/>
          <p:nvPr>
            <p:ph type="title"/>
          </p:nvPr>
        </p:nvSpPr>
        <p:spPr>
          <a:xfrm>
            <a:off x="4174250" y="69125"/>
            <a:ext cx="48375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it" sz="1878">
                <a:solidFill>
                  <a:schemeClr val="lt1"/>
                </a:solidFill>
              </a:rPr>
              <a:t>Esercizio</a:t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268"/>
              <a:buNone/>
            </a:pPr>
            <a:r>
              <a:t/>
            </a:r>
            <a:endParaRPr sz="1878">
              <a:solidFill>
                <a:schemeClr val="lt1"/>
              </a:solidFill>
            </a:endParaRPr>
          </a:p>
        </p:txBody>
      </p:sp>
      <p:sp>
        <p:nvSpPr>
          <p:cNvPr id="140" name="Google Shape;140;p27"/>
          <p:cNvSpPr txBox="1"/>
          <p:nvPr>
            <p:ph type="title"/>
          </p:nvPr>
        </p:nvSpPr>
        <p:spPr>
          <a:xfrm>
            <a:off x="4174250" y="373925"/>
            <a:ext cx="48375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1D8F"/>
              </a:buClr>
              <a:buSzPts val="2268"/>
              <a:buNone/>
            </a:pPr>
            <a:r>
              <a:rPr b="0" lang="it" sz="1078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Formattare una pagina con i CSS</a:t>
            </a:r>
            <a:endParaRPr b="0" sz="1078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1" name="Google Shape;141;p27"/>
          <p:cNvSpPr txBox="1"/>
          <p:nvPr/>
        </p:nvSpPr>
        <p:spPr>
          <a:xfrm>
            <a:off x="836130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rPr>
              <a:t>‹#›</a:t>
            </a:fld>
            <a:endParaRPr sz="1300">
              <a:solidFill>
                <a:srgbClr val="9D1D8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2" name="Google Shape;142;p27"/>
          <p:cNvSpPr txBox="1"/>
          <p:nvPr/>
        </p:nvSpPr>
        <p:spPr>
          <a:xfrm>
            <a:off x="424875" y="1143000"/>
            <a:ext cx="83019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L'esercizio è mirato a prendere confidenza con i CSS per ricreare, per quanto possibile, ogni dettaglio (spazi, colori, grandezze, allineamenti, ecc.) presente nel semplice modello grafico «layout-curriculum.png». Il layout è stato creato per dispositivi mobili ed andrà testato solo su schermi piccoli (fino a circa 450px-500px).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Viene ripreso il file "curriculum.html", realizzato in una precedente esercitazione. Il markup originale di quel file è stato ritoccato ed integrato con alcuni contenitori semantici per permettere una migliore organizzazione dei contenuti ed una più agevole selezione degli elementi tramite CSS.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Il CSS di reset è stato messo a disposizione nella cartella Assets-&gt;CSS.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" sz="1200">
                <a:latin typeface="Inter"/>
                <a:ea typeface="Inter"/>
                <a:cs typeface="Inter"/>
                <a:sym typeface="Inter"/>
              </a:rPr>
              <a:t>Il font usato per gli heading è il Raleway e si può reperire su Google Fonts.</a:t>
            </a:r>
            <a:endParaRPr sz="1200"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424875" y="1143000"/>
            <a:ext cx="194100" cy="383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/>
              <a:t>1.</a:t>
            </a:r>
            <a:endParaRPr sz="900"/>
          </a:p>
        </p:txBody>
      </p:sp>
      <p:sp>
        <p:nvSpPr>
          <p:cNvPr id="148" name="Google Shape;148;p28"/>
          <p:cNvSpPr txBox="1"/>
          <p:nvPr/>
        </p:nvSpPr>
        <p:spPr>
          <a:xfrm>
            <a:off x="845565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 sz="1300">
                <a:solidFill>
                  <a:srgbClr val="9D1D8F"/>
                </a:solidFill>
                <a:latin typeface="Outfit Medium"/>
                <a:ea typeface="Outfit Medium"/>
                <a:cs typeface="Outfit Medium"/>
                <a:sym typeface="Outfit Medium"/>
              </a:rPr>
              <a:t>‹#›</a:t>
            </a:fld>
            <a:endParaRPr sz="1300">
              <a:solidFill>
                <a:srgbClr val="9D1D8F"/>
              </a:solidFill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sp>
        <p:nvSpPr>
          <p:cNvPr id="149" name="Google Shape;149;p28"/>
          <p:cNvSpPr/>
          <p:nvPr/>
        </p:nvSpPr>
        <p:spPr>
          <a:xfrm>
            <a:off x="-13200" y="69125"/>
            <a:ext cx="9157200" cy="669000"/>
          </a:xfrm>
          <a:prstGeom prst="rect">
            <a:avLst/>
          </a:prstGeom>
          <a:solidFill>
            <a:srgbClr val="101023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875" y="186901"/>
            <a:ext cx="1707858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8"/>
          <p:cNvSpPr txBox="1"/>
          <p:nvPr/>
        </p:nvSpPr>
        <p:spPr>
          <a:xfrm>
            <a:off x="4174250" y="69125"/>
            <a:ext cx="48375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it" sz="1878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Esercizio</a:t>
            </a:r>
            <a:endParaRPr b="1" sz="1878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78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78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78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78"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52" name="Google Shape;152;p28"/>
          <p:cNvSpPr txBox="1"/>
          <p:nvPr/>
        </p:nvSpPr>
        <p:spPr>
          <a:xfrm>
            <a:off x="4174250" y="373925"/>
            <a:ext cx="4837500" cy="3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it" sz="10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Formattare una pagina con i CSS</a:t>
            </a:r>
            <a:endParaRPr sz="1078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53" name="Google Shape;153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17713" y="1143000"/>
            <a:ext cx="1495375" cy="36111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2725" y="1137361"/>
            <a:ext cx="1495374" cy="362237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623625" y="1143000"/>
            <a:ext cx="194100" cy="383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/>
              <a:t>2</a:t>
            </a:r>
            <a:r>
              <a:rPr lang="it" sz="900"/>
              <a:t>.</a:t>
            </a:r>
            <a:endParaRPr sz="900"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7028700" y="1143000"/>
            <a:ext cx="194100" cy="383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/>
              <a:t>3</a:t>
            </a:r>
            <a:r>
              <a:rPr lang="it" sz="900"/>
              <a:t>.</a:t>
            </a:r>
            <a:endParaRPr sz="900"/>
          </a:p>
        </p:txBody>
      </p:sp>
      <p:pic>
        <p:nvPicPr>
          <p:cNvPr id="157" name="Google Shape;157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2790" y="1137350"/>
            <a:ext cx="1425909" cy="3611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ctrTitle"/>
          </p:nvPr>
        </p:nvSpPr>
        <p:spPr>
          <a:xfrm>
            <a:off x="347000" y="3885850"/>
            <a:ext cx="36798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3333"/>
              <a:buNone/>
            </a:pPr>
            <a:r>
              <a:rPr lang="it" sz="3000"/>
              <a:t>GRAZIE</a:t>
            </a:r>
            <a:br>
              <a:rPr lang="it" sz="3000"/>
            </a:br>
            <a:r>
              <a:rPr lang="it" sz="1200"/>
              <a:t>Epicode</a:t>
            </a:r>
            <a:br>
              <a:rPr lang="it" sz="1200"/>
            </a:br>
            <a:endParaRPr b="0" sz="1200">
              <a:solidFill>
                <a:srgbClr val="5E5E5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33333"/>
              <a:buNone/>
            </a:pPr>
            <a:r>
              <a:t/>
            </a:r>
            <a:endParaRPr b="0"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Epicode-chiar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picode-scur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